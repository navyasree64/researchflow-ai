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261" r:id="rId5"/>
    <p:sldId id="262" r:id="rId6"/>
    <p:sldId id="263" r:id="rId7"/>
    <p:sldId id="265" r:id="rId8"/>
    <p:sldId id="267" r:id="rId9"/>
    <p:sldId id="268" r:id="rId10"/>
    <p:sldId id="269" r:id="rId11"/>
    <p:sldId id="27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44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BE0B-EA0F-9003-5E92-4F4F4E2B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63567-0277-3EFF-36CE-B77DA6B6D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48937-3BDA-426F-63D3-F371F2839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E6425-6C54-E21E-D415-9ADA647E3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6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2926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EVOLUTION ASSISTANT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scattered academic papers into a living,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knowledge graph — automatically.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200400"/>
            <a:ext cx="256032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3200400"/>
            <a:ext cx="256032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Flash-Lite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3200400"/>
            <a:ext cx="256032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75888"/>
            <a:ext cx="256032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75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675888"/>
            <a:ext cx="256032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675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675888"/>
            <a:ext cx="256032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675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AI-powered research assistant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92566B-D28E-88DE-AC9B-A43734E60AF0}"/>
              </a:ext>
            </a:extLst>
          </p:cNvPr>
          <p:cNvSpPr txBox="1"/>
          <p:nvPr/>
        </p:nvSpPr>
        <p:spPr>
          <a:xfrm>
            <a:off x="6206067" y="1569388"/>
            <a:ext cx="3769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Sarvani – AP23110010006</a:t>
            </a:r>
          </a:p>
          <a:p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Meghana – AP23110010022</a:t>
            </a:r>
          </a:p>
          <a:p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Pranathi – AP23110010039</a:t>
            </a:r>
          </a:p>
          <a:p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Navya – AP23110010064</a:t>
            </a:r>
          </a:p>
          <a:p>
            <a:r>
              <a:rPr lang="en-US" sz="1200" dirty="0" err="1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Prosnita</a:t>
            </a:r>
            <a:r>
              <a:rPr lang="en-US" sz="12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Saha – AP23110010078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813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of published academic work is growing exponentially. Reading, tracking, and connecting new findings to past knowledge manually is no longer feasible.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651760" cy="25603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66928" y="30906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published on arXiv annually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493008"/>
            <a:ext cx="210312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566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cannot manually track all relevant publications in their domain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2240280"/>
            <a:ext cx="2651760" cy="25603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377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447288" y="30906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to spot contradictions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3493008"/>
            <a:ext cx="210312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3447288" y="3566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automatically flags when a new paper conflicts with what you already know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240280"/>
            <a:ext cx="2651760" cy="256032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377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327648" y="30906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between research sessions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493008"/>
            <a:ext cx="210312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3566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ChatGPT start fresh each conversation — no cumulative knowledge graph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AI: A Living Research Memory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813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summarizing papers in isolation, ResearchFlow AI builds a persistent, searchable knowledge graph of everything you have ever researched — then uses it to contextualize every new paper you read.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651760" cy="2606040"/>
          </a:xfrm>
          <a:prstGeom prst="rect">
            <a:avLst/>
          </a:prstGeom>
          <a:solidFill>
            <a:srgbClr val="F8F9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265176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Submit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topic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paper URLs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setup needed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37560" y="2240280"/>
            <a:ext cx="2651760" cy="2606040"/>
          </a:xfrm>
          <a:prstGeom prst="rect">
            <a:avLst/>
          </a:prstGeom>
          <a:solidFill>
            <a:srgbClr val="F8F9F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240280"/>
            <a:ext cx="265176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240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Does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7432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&amp; cleans content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structured schema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vector similarity search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new vs. past papers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2240280"/>
            <a:ext cx="2651760" cy="2606040"/>
          </a:xfrm>
          <a:prstGeom prst="rect">
            <a:avLst/>
          </a:prstGeom>
          <a:solidFill>
            <a:srgbClr val="F8F9FA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240280"/>
            <a:ext cx="265176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240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7432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contributions highlighted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trajectory explained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&amp; agreements flagged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identified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Best-in-Class Tools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72768"/>
            <a:ext cx="4160520" cy="102412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" cy="10241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892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routing, API endpoints, and orchestrates the full AI pipeline. Lightweight and perfect for wrapping complex Python-based AI workflows into clean REST APIs.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572768"/>
            <a:ext cx="4160520" cy="102412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72768"/>
            <a:ext cx="54864" cy="10241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5010912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Flash-Lite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1892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Engine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10912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two distinct tasks: (1) deep structured extraction of paper metadata, and (2) high-level synthesis of multiple papers into evolving summaries. The Flash-Lite model is optimized for speed.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34056"/>
            <a:ext cx="4160520" cy="102412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34056"/>
            <a:ext cx="54864" cy="10241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807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30540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Layer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" y="32644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complex academic webpages and PDF landing pages into clean, readable Markdown. Bypasses paywalls, CAPTCHAs, and heavy JavaScript rendering automatically.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734056"/>
            <a:ext cx="4160520" cy="102412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734056"/>
            <a:ext cx="54864" cy="10241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010912" y="2807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30540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10912" y="32644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'Memento Database' — provides persistent local storage with semantic vector search. Enables intelligent retrieval of relevant past papers based on topic context rather than keyword matching.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95344"/>
            <a:ext cx="4160520" cy="102412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95344"/>
            <a:ext cx="54864" cy="10241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42153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44256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LLM to return perfectly structured JSON schemas for both papers and summaries. Guarantees consistent fields: Title, Authors, Methodology, Limitations, Core Findings, Open Questions.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895344"/>
            <a:ext cx="4160520" cy="102412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895344"/>
            <a:ext cx="54864" cy="10241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5010912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 / CSS / JS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10912" y="42153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10912" y="44256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'Clean Academic Aesthetic' with premium typography (Geist, IBM Plex Mono). Async data loading ensures a smooth UX even as the AI pipeline processes multiple papers in the background.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AI Pipeline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813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user submits a topic and URLs, a deterministic 5-step pipeline executes automatically. Each module is a separate Python file with a single, well-defined responsibility.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536192" cy="2606040"/>
          </a:xfrm>
          <a:prstGeom prst="rect">
            <a:avLst/>
          </a:prstGeom>
          <a:solidFill>
            <a:srgbClr val="F8F9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1536192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93392" y="3447288"/>
            <a:ext cx="182880" cy="3657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Text 11"/>
          <p:cNvSpPr/>
          <p:nvPr/>
        </p:nvSpPr>
        <p:spPr>
          <a:xfrm>
            <a:off x="2029968" y="336499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76272" y="2194560"/>
            <a:ext cx="1536192" cy="2606040"/>
          </a:xfrm>
          <a:prstGeom prst="rect">
            <a:avLst/>
          </a:prstGeom>
          <a:solidFill>
            <a:srgbClr val="F8F9F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76272" y="2194560"/>
            <a:ext cx="153619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2176272" y="219456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67712" y="26517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301752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extractor.py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12464" y="3447288"/>
            <a:ext cx="182880" cy="3657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336499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95344" y="2194560"/>
            <a:ext cx="1536192" cy="2606040"/>
          </a:xfrm>
          <a:prstGeom prst="rect">
            <a:avLst/>
          </a:prstGeom>
          <a:solidFill>
            <a:srgbClr val="F8F9F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95344" y="2194560"/>
            <a:ext cx="1536192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895344" y="219456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86784" y="26517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41064" y="301752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memento.py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31536" y="3447288"/>
            <a:ext cx="182880" cy="3657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7" name="Text 25"/>
          <p:cNvSpPr/>
          <p:nvPr/>
        </p:nvSpPr>
        <p:spPr>
          <a:xfrm>
            <a:off x="5468112" y="336499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</a:rPr>
              <a:t>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14416" y="2194560"/>
            <a:ext cx="1536192" cy="2606040"/>
          </a:xfrm>
          <a:prstGeom prst="rect">
            <a:avLst/>
          </a:prstGeom>
          <a:solidFill>
            <a:srgbClr val="F8F9FA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14416" y="2194560"/>
            <a:ext cx="1536192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5614416" y="219456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05856" y="26517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0136" y="301752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memento.py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50608" y="3447288"/>
            <a:ext cx="182880" cy="3657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4" name="Text 32"/>
          <p:cNvSpPr/>
          <p:nvPr/>
        </p:nvSpPr>
        <p:spPr>
          <a:xfrm>
            <a:off x="7187184" y="336499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</a:rPr>
              <a:t>›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33488" y="2194560"/>
            <a:ext cx="1536192" cy="2606040"/>
          </a:xfrm>
          <a:prstGeom prst="rect">
            <a:avLst/>
          </a:prstGeom>
          <a:solidFill>
            <a:srgbClr val="F8F9FA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33488" y="2194560"/>
            <a:ext cx="153619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7333488" y="219456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24928" y="26517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79208" y="301752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synthesizer.py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ARCHITECTURE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Step-by-Step Breakdown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822960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609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— crawler.py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60934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each URL to the Firecrawl API. Firecrawl returns clean Markdown text, stripping navigation, ads, JavaScript, and paywalls. The result is lean, readable content ready for AI analysis.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50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313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— extractor.py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31343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reads the Markdown and extracts a strict Pydantic schema: Title, Authors, Abstract, Methodology, Core Findings, Limitations, and Open Questions. Smart heuristics also detect junk pages (404s, CAPTCHAs) and reject them before they enter the DB.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822960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0540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017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Storage — memento.py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30175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validated paper object is embedded using ChromaDB's default embedding model and stored permanently in the 'research_papers' collection. All papers accumulate over time, building a personal knowledge base.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6674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7581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721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Retrieval — memento.py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37216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similarity search is run against ChromaDB using the user's submitted 'Topic' as a query. The top-N most semantically relevant past papers are retrieved as historical context.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370832"/>
            <a:ext cx="822960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4622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425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— synthesizer.py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42569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receives both the new papers and past context side-by-side. It generates a structured EvolvingSummary: Field Trajectory, Novel Contributions, Conflicts &amp; Agreements, and Open Questions.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KEY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User Interfaces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8229600" cy="10515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Research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Command Center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121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point. Users input a topic string and one or more paper URLs.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0" y="16276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88366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83794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Summary card comparing new vs. past papers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06654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202082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Contributions section highlighting genuinely new ideas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24942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220370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Trajectory showing how the topic area has evolved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243230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3364992" y="23865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&amp; Agreements flagged explicitly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15768"/>
            <a:ext cx="8229600" cy="10515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15768"/>
            <a:ext cx="54864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2788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Memento Database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" y="3063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Bookshelf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32826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library of every paper ever processed by the system.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0" y="2788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04495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299923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extracted Methodology without reading the full PDF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22783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3364992" y="318211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Core Findings as a clean bullet list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41071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3364992" y="336499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Limitations and Open Questions per paper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59359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3364992" y="354787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topic, author, or date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77056"/>
            <a:ext cx="8229600" cy="10515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877056"/>
            <a:ext cx="54864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3950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Analyses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" y="4224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" y="44439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 of all Evolving Summaries previously generated, saved to ChromaDB.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0" y="39502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42062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3364992" y="416052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high-level topic reports anytime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0" y="438912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3364992" y="434340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your understanding of a field has changed over months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457200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5" name="Text 43"/>
          <p:cNvSpPr/>
          <p:nvPr/>
        </p:nvSpPr>
        <p:spPr>
          <a:xfrm>
            <a:off x="3364992" y="452628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summaries for integration into literature reviews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0" y="475488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7" name="Text 45"/>
          <p:cNvSpPr/>
          <p:nvPr/>
        </p:nvSpPr>
        <p:spPr>
          <a:xfrm>
            <a:off x="3364992" y="470916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timestamp and source papers for each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DIFFERENTIATORS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ResearchFlow AI Apart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8229600" cy="768096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5564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2763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 via Vector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90195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persists all extracted papers as vector embeddings. When you submit a new topic, the system semantically retrieves the most relevant past papers — not by keyword, but by meaning. Your knowledge graph grows richer with every session.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49631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Dual-Purpose LLM Usage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7063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is used in two completely separate roles: first as a structured data extractor (micro-task, per-paper) and then as a high-level synthesizer (macro-task, across papers). Most tools use an LLM for only one of these — this system does both, producing richer outputs.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768096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36499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over Prose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63931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output is a Pydantic-validated JSON object. Core Findings are a List[str], not a paragraph. This makes outputs programmatically usable — they can be rendered in tables, exported, filtered, and compared over time.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61688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23367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Summary — Not Just a Summary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50799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differentiator in the output. Rather than summarizing new papers, the system produces an analysis of how the field has changed — highlighting what is genuinely novel, what contradicts established findings, and what remains unresolved.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DIFFERENTIATORS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AI vs. Existing Tools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72768"/>
            <a:ext cx="22860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57276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572768"/>
            <a:ext cx="201168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2816352" y="15727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201168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5727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Zotero / Mendeley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572768"/>
            <a:ext cx="201168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39712" y="15727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228600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0025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0" y="1965960"/>
            <a:ext cx="201168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200253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Resets each chat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965960"/>
            <a:ext cx="201168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00253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Storage only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1965960"/>
            <a:ext cx="20116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200253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Vector search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386584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4231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paper URLs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0" y="238658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16352" y="24231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Partial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38658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4231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Metadata only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66560" y="2386584"/>
            <a:ext cx="20116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24231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content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807208"/>
            <a:ext cx="228600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84378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0" y="2807208"/>
            <a:ext cx="201168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284378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Prose output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807208"/>
            <a:ext cx="201168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284378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Manual tagging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766560" y="2807208"/>
            <a:ext cx="20116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9712" y="284378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Pydantic schema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3227832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26440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contradictions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0" y="3227832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16352" y="326440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3227832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26440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66560" y="3227832"/>
            <a:ext cx="20116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9712" y="326440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Automatic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3648456"/>
            <a:ext cx="228600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368503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page filtering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0" y="3648456"/>
            <a:ext cx="201168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16352" y="368503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54880" y="3648456"/>
            <a:ext cx="201168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368503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766560" y="3648456"/>
            <a:ext cx="20116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39712" y="368503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Dual-layer filter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7200" y="4069080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41056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summaries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743200" y="406908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16352" y="410565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54880" y="406908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8032" y="410565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766560" y="4069080"/>
            <a:ext cx="20116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39712" y="410565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Core feature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57200" y="4489704"/>
            <a:ext cx="228600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" y="452628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analyses over time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743200" y="4489704"/>
            <a:ext cx="201168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16352" y="45262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754880" y="4489704"/>
            <a:ext cx="2011680" cy="384048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28032" y="45262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Notes only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766560" y="4489704"/>
            <a:ext cx="20116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39712" y="45262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ChromaDB persist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Future Vision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AI solves a real, painful problem for researchers — information overload and lack of synthesis.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modular: each pipeline stage (crawler, extractor, memento, synthesizer) is independently testable and replaceable.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 ensures data integrity at every LLM interaction — no hallucinated structures.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ChromaDB's vector search means the system gets smarter the more you use it.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actionable: structured lists of findings, conflicts, and open questions — not walls of text.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69080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417320"/>
            <a:ext cx="406908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4173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Roadmap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847088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graph integration — trace how ideas connect across decades of literature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collaboration — shared knowledge graphs for research teams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literature review generation for grant applications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arXiv, PubMed, and Semantic Scholar APIs for proactive paper discovery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digest — weekly summaries of new papers matching your tracked topics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LaTeX / BibTeX for academic writing workflows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ResearchFlow AI  ·  Built with Flask · Gemini 2.5 · ChromaDB · Firecrawl · Pydantic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C056F-0797-22EB-98AA-EB8EC9BF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39803C-9D20-CA77-32DF-4B7E35FB1B90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7170D4-D4DF-E63F-0753-C9FAD959A022}"/>
              </a:ext>
            </a:extLst>
          </p:cNvPr>
          <p:cNvSpPr/>
          <p:nvPr/>
        </p:nvSpPr>
        <p:spPr>
          <a:xfrm>
            <a:off x="2495973" y="2060051"/>
            <a:ext cx="3713019" cy="60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4E53F2-44C4-0F0C-CDE9-84E54BF68321}"/>
              </a:ext>
            </a:extLst>
          </p:cNvPr>
          <p:cNvSpPr/>
          <p:nvPr/>
        </p:nvSpPr>
        <p:spPr>
          <a:xfrm>
            <a:off x="2495973" y="1884204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5D19CFA-4349-3C8A-08D0-54ABC67E65CD}"/>
              </a:ext>
            </a:extLst>
          </p:cNvPr>
          <p:cNvSpPr/>
          <p:nvPr/>
        </p:nvSpPr>
        <p:spPr>
          <a:xfrm flipV="1">
            <a:off x="1973718" y="2843627"/>
            <a:ext cx="4787854" cy="53193"/>
          </a:xfrm>
          <a:prstGeom prst="rect">
            <a:avLst/>
          </a:prstGeom>
          <a:solidFill>
            <a:srgbClr val="E2E8F0"/>
          </a:solidFill>
          <a:ln/>
        </p:spPr>
      </p:sp>
    </p:spTree>
    <p:extLst>
      <p:ext uri="{BB962C8B-B14F-4D97-AF65-F5344CB8AC3E}">
        <p14:creationId xmlns:p14="http://schemas.microsoft.com/office/powerpoint/2010/main" val="144351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1416</Words>
  <Application>Microsoft Office PowerPoint</Application>
  <PresentationFormat>On-screen Show (16:9)</PresentationFormat>
  <Paragraphs>207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ResearchFlow AI</dc:title>
  <dc:subject>PptxGenJS Presentation</dc:subject>
  <dc:creator>PptxGenJS</dc:creator>
  <cp:lastModifiedBy>GOGIREDDY SARATH SAI REDDY</cp:lastModifiedBy>
  <cp:revision>6</cp:revision>
  <dcterms:created xsi:type="dcterms:W3CDTF">2026-05-01T03:54:32Z</dcterms:created>
  <dcterms:modified xsi:type="dcterms:W3CDTF">2026-05-01T09:00:01Z</dcterms:modified>
</cp:coreProperties>
</file>